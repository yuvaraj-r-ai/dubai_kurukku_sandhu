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y="5143500" cx="9144000"/>
  <p:notesSz cx="6858000" cy="9144000"/>
  <p:embeddedFontLst>
    <p:embeddedFont>
      <p:font typeface="Google Sans Medium"/>
      <p:regular r:id="rId17"/>
      <p:bold r:id="rId18"/>
      <p:italic r:id="rId19"/>
      <p:boldItalic r:id="rId20"/>
    </p:embeddedFont>
    <p:embeddedFont>
      <p:font typeface="Google Sans"/>
      <p:regular r:id="rId21"/>
      <p:bold r:id="rId22"/>
      <p:italic r:id="rId23"/>
      <p:boldItalic r:id="rId24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B25C4A23-0C6B-4DB0-8651-BB889FB87AEB}">
  <a:tblStyle styleId="{B25C4A23-0C6B-4DB0-8651-BB889FB87AEB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font" Target="fonts/GoogleSansMedium-regular.fntdata"/><Relationship Id="rId18" Type="http://schemas.openxmlformats.org/officeDocument/2006/relationships/font" Target="fonts/GoogleSansMedium-bold.fntdata"/><Relationship Id="rId19" Type="http://schemas.openxmlformats.org/officeDocument/2006/relationships/font" Target="fonts/GoogleSansMedium-italic.fntdata"/><Relationship Id="rId20" Type="http://schemas.openxmlformats.org/officeDocument/2006/relationships/font" Target="fonts/GoogleSansMedium-boldItalic.fntdata"/><Relationship Id="rId21" Type="http://schemas.openxmlformats.org/officeDocument/2006/relationships/font" Target="fonts/GoogleSans-regular.fntdata"/><Relationship Id="rId22" Type="http://schemas.openxmlformats.org/officeDocument/2006/relationships/font" Target="fonts/GoogleSans-bold.fntdata"/><Relationship Id="rId23" Type="http://schemas.openxmlformats.org/officeDocument/2006/relationships/font" Target="fonts/GoogleSans-italic.fntdata"/><Relationship Id="rId24" Type="http://schemas.openxmlformats.org/officeDocument/2006/relationships/font" Target="fonts/GoogleSans-boldItalic.fnt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9845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9845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845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9845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9845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9845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9845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0" name="Google Shape;60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7" name="Google Shape;67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9" name="Google Shape;7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5" name="Google Shape;85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1" name="Google Shape;91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7" name="Google Shape;97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3" name="Google Shape;103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9" name="Google Shape;109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3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3" name="Google Shape;13;p3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4" name="Google Shape;14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7" name="Google Shape;17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8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0" name="Google Shape;20;p5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21" name="Google Shape;21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2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4" name="Google Shape;24;p6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5" name="Google Shape;25;p6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6" name="Google Shape;26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7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9" name="Google Shape;29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8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2" name="Google Shape;32;p8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3" name="Google Shape;33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9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6" name="Google Shape;36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10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" name="Google Shape;39;p10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40" name="Google Shape;40;p10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41" name="Google Shape;41;p10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2" name="Google Shape;42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11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5" name="Google Shape;45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12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8" name="Google Shape;48;p12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Relationship Id="rId4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.png"/><Relationship Id="rId4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4" name="Google Shape;54;p13" title="353533d3d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18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55" name="Google Shape;55;p13"/>
          <p:cNvSpPr txBox="1"/>
          <p:nvPr/>
        </p:nvSpPr>
        <p:spPr>
          <a:xfrm>
            <a:off x="294675" y="3319373"/>
            <a:ext cx="8520600" cy="44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GB" sz="1600" u="none" cap="none" strike="noStrike">
                <a:solidFill>
                  <a:srgbClr val="202729"/>
                </a:solidFill>
                <a:latin typeface="Google Sans Medium"/>
                <a:ea typeface="Google Sans Medium"/>
                <a:cs typeface="Google Sans Medium"/>
                <a:sym typeface="Google Sans Medium"/>
              </a:rPr>
              <a:t>Team Name : Dubai_Kurukku_sandhu</a:t>
            </a:r>
            <a:endParaRPr b="0" i="0" sz="1600" u="none" cap="none" strike="noStrike">
              <a:solidFill>
                <a:srgbClr val="202729"/>
              </a:solidFill>
              <a:latin typeface="Google Sans Medium"/>
              <a:ea typeface="Google Sans Medium"/>
              <a:cs typeface="Google Sans Medium"/>
              <a:sym typeface="Google Sans Medium"/>
            </a:endParaRPr>
          </a:p>
        </p:txBody>
      </p:sp>
      <p:sp>
        <p:nvSpPr>
          <p:cNvPr id="56" name="Google Shape;56;p13"/>
          <p:cNvSpPr txBox="1"/>
          <p:nvPr/>
        </p:nvSpPr>
        <p:spPr>
          <a:xfrm>
            <a:off x="328730" y="4269210"/>
            <a:ext cx="8520600" cy="408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marR="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GB" sz="1600" u="none" cap="none" strike="noStrike">
                <a:solidFill>
                  <a:srgbClr val="202729"/>
                </a:solidFill>
                <a:latin typeface="Google Sans Medium"/>
                <a:ea typeface="Google Sans Medium"/>
                <a:cs typeface="Google Sans Medium"/>
                <a:sym typeface="Google Sans Medium"/>
              </a:rPr>
              <a:t>Problem Statement : Route Resilience — Occlusion-Robust Road Extraction &amp; Graph-Theoretic Criticality Analysis for Urban Mobility</a:t>
            </a:r>
            <a:endParaRPr b="0" i="0" sz="1600" u="none" cap="none" strike="noStrike">
              <a:solidFill>
                <a:srgbClr val="202729"/>
              </a:solidFill>
              <a:latin typeface="Google Sans Medium"/>
              <a:ea typeface="Google Sans Medium"/>
              <a:cs typeface="Google Sans Medium"/>
              <a:sym typeface="Google Sans Medium"/>
            </a:endParaRPr>
          </a:p>
        </p:txBody>
      </p:sp>
      <p:sp>
        <p:nvSpPr>
          <p:cNvPr id="57" name="Google Shape;57;p13"/>
          <p:cNvSpPr txBox="1"/>
          <p:nvPr/>
        </p:nvSpPr>
        <p:spPr>
          <a:xfrm>
            <a:off x="310163" y="3794133"/>
            <a:ext cx="8520600" cy="44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GB" sz="1600" u="none" cap="none" strike="noStrike">
                <a:solidFill>
                  <a:srgbClr val="202729"/>
                </a:solidFill>
                <a:latin typeface="Google Sans Medium"/>
                <a:ea typeface="Google Sans Medium"/>
                <a:cs typeface="Google Sans Medium"/>
                <a:sym typeface="Google Sans Medium"/>
              </a:rPr>
              <a:t>Team Leader Name : Sudharsan M</a:t>
            </a:r>
            <a:endParaRPr b="0" i="0" sz="1600" u="none" cap="none" strike="noStrike">
              <a:solidFill>
                <a:srgbClr val="202729"/>
              </a:solidFill>
              <a:latin typeface="Google Sans Medium"/>
              <a:ea typeface="Google Sans Medium"/>
              <a:cs typeface="Google Sans Medium"/>
              <a:sym typeface="Google Sans Medium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2" name="Google Shape;62;p14" title="wswswsw33d3d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18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63" name="Google Shape;63;p14"/>
          <p:cNvSpPr txBox="1"/>
          <p:nvPr/>
        </p:nvSpPr>
        <p:spPr>
          <a:xfrm>
            <a:off x="3370500" y="702175"/>
            <a:ext cx="2403000" cy="465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Clr>
                <a:srgbClr val="000000"/>
              </a:buClr>
              <a:buSzPts val="1018"/>
              <a:buFont typeface="Arial"/>
              <a:buNone/>
            </a:pPr>
            <a:r>
              <a:rPr b="0" i="0" lang="en-GB" sz="2050" u="none" cap="none" strike="noStrike">
                <a:solidFill>
                  <a:schemeClr val="dk1"/>
                </a:solidFill>
                <a:latin typeface="Google Sans Medium"/>
                <a:ea typeface="Google Sans Medium"/>
                <a:cs typeface="Google Sans Medium"/>
                <a:sym typeface="Google Sans Medium"/>
              </a:rPr>
              <a:t>Team Members</a:t>
            </a:r>
            <a:endParaRPr b="0" i="0" sz="2050" u="none" cap="none" strike="noStrike">
              <a:solidFill>
                <a:schemeClr val="dk1"/>
              </a:solidFill>
              <a:latin typeface="Google Sans Medium"/>
              <a:ea typeface="Google Sans Medium"/>
              <a:cs typeface="Google Sans Medium"/>
              <a:sym typeface="Google Sans Medium"/>
            </a:endParaRPr>
          </a:p>
        </p:txBody>
      </p:sp>
      <p:graphicFrame>
        <p:nvGraphicFramePr>
          <p:cNvPr id="64" name="Google Shape;64;p14"/>
          <p:cNvGraphicFramePr/>
          <p:nvPr/>
        </p:nvGraphicFramePr>
        <p:xfrm>
          <a:off x="952500" y="132945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{B25C4A23-0C6B-4DB0-8651-BB889FB87AEB}</a:tableStyleId>
              </a:tblPr>
              <a:tblGrid>
                <a:gridCol w="3619500"/>
                <a:gridCol w="3619500"/>
              </a:tblGrid>
              <a:tr h="17949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-GB" sz="1400" u="none" cap="none" strike="noStrike"/>
                        <a:t>Team Leader: </a:t>
                      </a:r>
                      <a:endParaRPr sz="1400" u="none" cap="none" strike="noStrike"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-GB" sz="1400" u="none" cap="none" strike="noStrike"/>
                        <a:t>Name: Sudharsan M</a:t>
                      </a:r>
                      <a:endParaRPr sz="1400" u="none" cap="none" strike="noStrike"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-GB" sz="1400" u="none" cap="none" strike="noStrike"/>
                        <a:t>College: Vellore Institute of Technology (Chennai)</a:t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GB" sz="1400" u="none" cap="none" strike="noStrike">
                          <a:solidFill>
                            <a:schemeClr val="dk1"/>
                          </a:solidFill>
                        </a:rPr>
                        <a:t>Team Member-1: </a:t>
                      </a:r>
                      <a:endParaRPr sz="1400" u="none" cap="none" strike="noStrike">
                        <a:solidFill>
                          <a:schemeClr val="dk1"/>
                        </a:solidFill>
                      </a:endParaRPr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>
                        <a:solidFill>
                          <a:schemeClr val="dk1"/>
                        </a:solidFill>
                      </a:endParaRPr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GB" sz="1400" u="none" cap="none" strike="noStrike">
                          <a:solidFill>
                            <a:schemeClr val="dk1"/>
                          </a:solidFill>
                        </a:rPr>
                        <a:t>Name: Yuvaraj R</a:t>
                      </a:r>
                      <a:endParaRPr sz="1400" u="none" cap="none" strike="noStrike">
                        <a:solidFill>
                          <a:schemeClr val="dk1"/>
                        </a:solidFill>
                      </a:endParaRPr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GB" sz="1400" u="none" cap="none" strike="noStrike">
                          <a:solidFill>
                            <a:schemeClr val="dk1"/>
                          </a:solidFill>
                        </a:rPr>
                        <a:t>College: Vellore Institute of Technology (Chennai)</a:t>
                      </a:r>
                      <a:endParaRPr sz="1400" u="none" cap="none" strike="noStrike">
                        <a:solidFill>
                          <a:schemeClr val="dk1"/>
                        </a:solidFill>
                      </a:endParaRPr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949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GB" sz="1400" u="none" cap="none" strike="noStrike">
                          <a:solidFill>
                            <a:schemeClr val="dk1"/>
                          </a:solidFill>
                        </a:rPr>
                        <a:t>Team Member-2: </a:t>
                      </a:r>
                      <a:endParaRPr sz="1400" u="none" cap="none" strike="noStrike">
                        <a:solidFill>
                          <a:schemeClr val="dk1"/>
                        </a:solidFill>
                      </a:endParaRPr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>
                        <a:solidFill>
                          <a:schemeClr val="dk1"/>
                        </a:solidFill>
                      </a:endParaRPr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GB" sz="1400" u="none" cap="none" strike="noStrike">
                          <a:solidFill>
                            <a:schemeClr val="dk1"/>
                          </a:solidFill>
                        </a:rPr>
                        <a:t>Name: Skandan Suresh</a:t>
                      </a:r>
                      <a:endParaRPr sz="1400" u="none" cap="none" strike="noStrike">
                        <a:solidFill>
                          <a:schemeClr val="dk1"/>
                        </a:solidFill>
                      </a:endParaRPr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GB" sz="1400" u="none" cap="none" strike="noStrike">
                          <a:solidFill>
                            <a:schemeClr val="dk1"/>
                          </a:solidFill>
                        </a:rPr>
                        <a:t>College: Vellore Institute of Technology (Chennai)</a:t>
                      </a:r>
                      <a:endParaRPr sz="1400" u="none" cap="none" strike="noStrike">
                        <a:solidFill>
                          <a:schemeClr val="dk1"/>
                        </a:solidFill>
                      </a:endParaRPr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>
                        <a:solidFill>
                          <a:schemeClr val="dk1"/>
                        </a:solidFill>
                      </a:endParaRPr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GB" sz="1400" u="none" cap="none" strike="noStrike">
                          <a:solidFill>
                            <a:schemeClr val="dk1"/>
                          </a:solidFill>
                        </a:rPr>
                        <a:t>Team Member-3: </a:t>
                      </a:r>
                      <a:endParaRPr sz="1400" u="none" cap="none" strike="noStrike">
                        <a:solidFill>
                          <a:schemeClr val="dk1"/>
                        </a:solidFill>
                      </a:endParaRPr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>
                        <a:solidFill>
                          <a:schemeClr val="dk1"/>
                        </a:solidFill>
                      </a:endParaRPr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GB" sz="1400" u="none" cap="none" strike="noStrike">
                          <a:solidFill>
                            <a:schemeClr val="dk1"/>
                          </a:solidFill>
                        </a:rPr>
                        <a:t>Name: Harsha Vardan M Sakamuri</a:t>
                      </a:r>
                      <a:endParaRPr sz="1400" u="none" cap="none" strike="noStrike">
                        <a:solidFill>
                          <a:schemeClr val="dk1"/>
                        </a:solidFill>
                      </a:endParaRPr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GB" sz="1400" u="none" cap="none" strike="noStrike">
                          <a:solidFill>
                            <a:schemeClr val="dk1"/>
                          </a:solidFill>
                        </a:rPr>
                        <a:t>College: Vellore Institute of Technology (Chennai)</a:t>
                      </a:r>
                      <a:endParaRPr sz="1400" u="none" cap="none" strike="noStrike">
                        <a:solidFill>
                          <a:schemeClr val="dk1"/>
                        </a:solidFill>
                      </a:endParaRPr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>
                        <a:solidFill>
                          <a:schemeClr val="dk1"/>
                        </a:solidFill>
                      </a:endParaRPr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9" name="Google Shape;69;p15" title="wswswsw33d3d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18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70" name="Google Shape;70;p15"/>
          <p:cNvSpPr txBox="1"/>
          <p:nvPr/>
        </p:nvSpPr>
        <p:spPr>
          <a:xfrm>
            <a:off x="311700" y="863550"/>
            <a:ext cx="7569300" cy="465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 fontScale="25000" lnSpcReduction="20000"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4"/>
              <a:buFont typeface="Arial"/>
              <a:buNone/>
            </a:pPr>
            <a:r>
              <a:rPr b="0" i="0" lang="en-GB" sz="6450" u="none" cap="none" strike="noStrike">
                <a:solidFill>
                  <a:schemeClr val="dk1"/>
                </a:solidFill>
                <a:latin typeface="Google Sans Medium"/>
                <a:ea typeface="Google Sans Medium"/>
                <a:cs typeface="Google Sans Medium"/>
                <a:sym typeface="Google Sans Medium"/>
              </a:rPr>
              <a:t>Opportunity — what makes this different</a:t>
            </a:r>
            <a:endParaRPr b="0" i="0" sz="6450" u="none" cap="none" strike="noStrike">
              <a:solidFill>
                <a:schemeClr val="dk1"/>
              </a:solidFill>
              <a:latin typeface="Google Sans Medium"/>
              <a:ea typeface="Google Sans Medium"/>
              <a:cs typeface="Google Sans Medium"/>
              <a:sym typeface="Google Sans Medium"/>
            </a:endParaRPr>
          </a:p>
          <a:p>
            <a:pPr indent="-331025" lvl="0" marL="457200" marR="0" rtl="0" algn="l">
              <a:lnSpc>
                <a:spcPct val="150000"/>
              </a:lnSpc>
              <a:spcBef>
                <a:spcPts val="1200"/>
              </a:spcBef>
              <a:spcAft>
                <a:spcPts val="0"/>
              </a:spcAft>
              <a:buClr>
                <a:schemeClr val="dk2"/>
              </a:buClr>
              <a:buSzPct val="100000"/>
              <a:buFont typeface="Google Sans"/>
              <a:buChar char="●"/>
            </a:pPr>
            <a:r>
              <a:rPr b="0" i="0" lang="en-GB" sz="6450" u="none" cap="none" strike="noStrike">
                <a:solidFill>
                  <a:schemeClr val="dk2"/>
                </a:solidFill>
                <a:latin typeface="Google Sans"/>
                <a:ea typeface="Google Sans"/>
                <a:cs typeface="Google Sans"/>
                <a:sym typeface="Google Sans"/>
              </a:rPr>
              <a:t>Different: we optimise road CONNECTIVITY (clDice topology loss) and HEAL broken masks into a routable graph — not just ship pixel masks like standard extractors.</a:t>
            </a:r>
            <a:endParaRPr b="0" i="0" sz="6450" u="none" cap="none" strike="noStrike">
              <a:solidFill>
                <a:schemeClr val="dk2"/>
              </a:solidFill>
              <a:latin typeface="Google Sans"/>
              <a:ea typeface="Google Sans"/>
              <a:cs typeface="Google Sans"/>
              <a:sym typeface="Google Sans"/>
            </a:endParaRPr>
          </a:p>
          <a:p>
            <a:pPr indent="-331025" lvl="0" marL="457200" marR="0" rtl="0" algn="l">
              <a:lnSpc>
                <a:spcPct val="150000"/>
              </a:lnSpc>
              <a:spcBef>
                <a:spcPts val="1200"/>
              </a:spcBef>
              <a:spcAft>
                <a:spcPts val="0"/>
              </a:spcAft>
              <a:buClr>
                <a:schemeClr val="dk2"/>
              </a:buClr>
              <a:buSzPct val="100000"/>
              <a:buFont typeface="Google Sans"/>
              <a:buChar char="●"/>
            </a:pPr>
            <a:r>
              <a:rPr b="0" i="0" lang="en-GB" sz="6450" u="none" cap="none" strike="noStrike">
                <a:solidFill>
                  <a:schemeClr val="dk2"/>
                </a:solidFill>
                <a:latin typeface="Google Sans"/>
                <a:ea typeface="Google Sans"/>
                <a:cs typeface="Google Sans"/>
                <a:sym typeface="Google Sans"/>
              </a:rPr>
              <a:t>Solves the problem: sees through canopy/shadow occlusions, reconnects gaps, then flags the intersections whose failure would break the city.</a:t>
            </a:r>
            <a:endParaRPr b="0" i="0" sz="6450" u="none" cap="none" strike="noStrike">
              <a:solidFill>
                <a:schemeClr val="dk2"/>
              </a:solidFill>
              <a:latin typeface="Google Sans"/>
              <a:ea typeface="Google Sans"/>
              <a:cs typeface="Google Sans"/>
              <a:sym typeface="Google Sans"/>
            </a:endParaRPr>
          </a:p>
          <a:p>
            <a:pPr indent="-331025" lvl="0" marL="457200" marR="0" rtl="0" algn="l">
              <a:lnSpc>
                <a:spcPct val="150000"/>
              </a:lnSpc>
              <a:spcBef>
                <a:spcPts val="1200"/>
              </a:spcBef>
              <a:spcAft>
                <a:spcPts val="0"/>
              </a:spcAft>
              <a:buClr>
                <a:schemeClr val="dk2"/>
              </a:buClr>
              <a:buSzPct val="100000"/>
              <a:buFont typeface="Google Sans"/>
              <a:buChar char="●"/>
            </a:pPr>
            <a:r>
              <a:rPr b="0" i="0" lang="en-GB" sz="6450" u="none" cap="none" strike="noStrike">
                <a:solidFill>
                  <a:schemeClr val="dk2"/>
                </a:solidFill>
                <a:latin typeface="Google Sans"/>
                <a:ea typeface="Google Sans"/>
                <a:cs typeface="Google Sans"/>
                <a:sym typeface="Google Sans"/>
              </a:rPr>
              <a:t>USP: cycle-preserving graph healing + a global-efficiency Resilience Index + a plain-English LangGraph assistant for non-technical planners.</a:t>
            </a:r>
            <a:endParaRPr b="0" i="0" sz="6450" u="none" cap="none" strike="noStrike">
              <a:solidFill>
                <a:schemeClr val="dk2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5" name="Google Shape;75;p16" title="wswswsw33d3d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18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76" name="Google Shape;76;p16"/>
          <p:cNvSpPr txBox="1"/>
          <p:nvPr/>
        </p:nvSpPr>
        <p:spPr>
          <a:xfrm>
            <a:off x="311700" y="863550"/>
            <a:ext cx="7569300" cy="2570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GB" sz="1600" u="none" cap="none" strike="noStrike">
                <a:solidFill>
                  <a:schemeClr val="dk1"/>
                </a:solidFill>
                <a:latin typeface="Google Sans Medium"/>
                <a:ea typeface="Google Sans Medium"/>
                <a:cs typeface="Google Sans Medium"/>
                <a:sym typeface="Google Sans Medium"/>
              </a:rPr>
              <a:t>List of features offered by the solution</a:t>
            </a:r>
            <a:endParaRPr b="0" i="0" sz="1600" u="none" cap="none" strike="noStrike">
              <a:solidFill>
                <a:schemeClr val="dk1"/>
              </a:solidFill>
              <a:latin typeface="Google Sans Medium"/>
              <a:ea typeface="Google Sans Medium"/>
              <a:cs typeface="Google Sans Medium"/>
              <a:sym typeface="Google Sans Medium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GB" sz="1600" u="none" cap="none" strike="noStrike">
                <a:solidFill>
                  <a:schemeClr val="dk2"/>
                </a:solidFill>
                <a:latin typeface="Google Sans"/>
                <a:ea typeface="Google Sans"/>
                <a:cs typeface="Google Sans"/>
                <a:sym typeface="Google Sans"/>
              </a:rPr>
              <a:t>Occlusion-robust road segmentation (U-Net/SegFormer + topology-preserving clDice loss).</a:t>
            </a:r>
            <a:endParaRPr b="0" i="0" sz="1600" u="none" cap="none" strike="noStrike">
              <a:solidFill>
                <a:schemeClr val="dk2"/>
              </a:solidFill>
              <a:latin typeface="Google Sans"/>
              <a:ea typeface="Google Sans"/>
              <a:cs typeface="Google Sans"/>
              <a:sym typeface="Google Sans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GB" sz="1600" u="none" cap="none" strike="noStrike">
                <a:solidFill>
                  <a:schemeClr val="dk2"/>
                </a:solidFill>
                <a:latin typeface="Google Sans"/>
                <a:ea typeface="Google Sans"/>
                <a:cs typeface="Google Sans"/>
                <a:sym typeface="Google Sans"/>
              </a:rPr>
              <a:t>Topological healing: skeletonize + RDP cleanup + cycle-preserving gated gap-bridging → connected, weighted, routable graph.</a:t>
            </a:r>
            <a:endParaRPr b="0" i="0" sz="1600" u="none" cap="none" strike="noStrike">
              <a:solidFill>
                <a:schemeClr val="dk2"/>
              </a:solidFill>
              <a:latin typeface="Google Sans"/>
              <a:ea typeface="Google Sans"/>
              <a:cs typeface="Google Sans"/>
              <a:sym typeface="Google Sans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GB" sz="1600" u="none" cap="none" strike="noStrike">
                <a:solidFill>
                  <a:schemeClr val="dk2"/>
                </a:solidFill>
                <a:latin typeface="Google Sans"/>
                <a:ea typeface="Google Sans"/>
                <a:cs typeface="Google Sans"/>
                <a:sym typeface="Google Sans"/>
              </a:rPr>
              <a:t>Criticality map: betweenness centrality flags 'Gatekeeper Nodes' / bottlenecks.</a:t>
            </a:r>
            <a:endParaRPr b="0" i="0" sz="1600" u="none" cap="none" strike="noStrike">
              <a:solidFill>
                <a:schemeClr val="dk2"/>
              </a:solidFill>
              <a:latin typeface="Google Sans"/>
              <a:ea typeface="Google Sans"/>
              <a:cs typeface="Google Sans"/>
              <a:sym typeface="Google Sans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GB" sz="1600" u="none" cap="none" strike="noStrike">
                <a:solidFill>
                  <a:schemeClr val="dk2"/>
                </a:solidFill>
                <a:latin typeface="Google Sans"/>
                <a:ea typeface="Google Sans"/>
                <a:cs typeface="Google Sans"/>
                <a:sym typeface="Google Sans"/>
              </a:rPr>
              <a:t>Node-ablation stress test → Resilience Index (global network efficiency, survives disconnection).</a:t>
            </a:r>
            <a:endParaRPr b="0" i="0" sz="1600" u="none" cap="none" strike="noStrike">
              <a:solidFill>
                <a:schemeClr val="dk2"/>
              </a:solidFill>
              <a:latin typeface="Google Sans"/>
              <a:ea typeface="Google Sans"/>
              <a:cs typeface="Google Sans"/>
              <a:sym typeface="Google Sans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GB" sz="1600" u="none" cap="none" strike="noStrike">
                <a:solidFill>
                  <a:schemeClr val="dk2"/>
                </a:solidFill>
                <a:latin typeface="Google Sans"/>
                <a:ea typeface="Google Sans"/>
                <a:cs typeface="Google Sans"/>
                <a:sym typeface="Google Sans"/>
              </a:rPr>
              <a:t>Interactive dashboard: click a node to disable it → live reroute + travel-time increase.</a:t>
            </a:r>
            <a:endParaRPr b="0" i="0" sz="1600" u="none" cap="none" strike="noStrike">
              <a:solidFill>
                <a:schemeClr val="dk2"/>
              </a:solidFill>
              <a:latin typeface="Google Sans"/>
              <a:ea typeface="Google Sans"/>
              <a:cs typeface="Google Sans"/>
              <a:sym typeface="Google Sans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GB" sz="1600" u="none" cap="none" strike="noStrike">
                <a:solidFill>
                  <a:schemeClr val="dk2"/>
                </a:solidFill>
                <a:latin typeface="Google Sans"/>
                <a:ea typeface="Google Sans"/>
                <a:cs typeface="Google Sans"/>
                <a:sym typeface="Google Sans"/>
              </a:rPr>
              <a:t>Conversational LangGraph/LangChain assistant (Claude) — ask resilience questions in plain English.</a:t>
            </a:r>
            <a:endParaRPr b="0" i="0" sz="1600" u="none" cap="none" strike="noStrike">
              <a:solidFill>
                <a:schemeClr val="dk2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1" name="Google Shape;81;p17" title="wswswsw33d3d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18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82" name="Google Shape;82;p17"/>
          <p:cNvSpPr txBox="1"/>
          <p:nvPr/>
        </p:nvSpPr>
        <p:spPr>
          <a:xfrm>
            <a:off x="311700" y="863550"/>
            <a:ext cx="7569300" cy="2570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GB" sz="1600" u="none" cap="none" strike="noStrike">
                <a:solidFill>
                  <a:schemeClr val="dk1"/>
                </a:solidFill>
                <a:latin typeface="Google Sans Medium"/>
                <a:ea typeface="Google Sans Medium"/>
                <a:cs typeface="Google Sans Medium"/>
                <a:sym typeface="Google Sans Medium"/>
              </a:rPr>
              <a:t>Process Flow</a:t>
            </a:r>
            <a:endParaRPr b="0" i="0" sz="1600" u="none" cap="none" strike="noStrike">
              <a:solidFill>
                <a:schemeClr val="dk1"/>
              </a:solidFill>
              <a:latin typeface="Google Sans Medium"/>
              <a:ea typeface="Google Sans Medium"/>
              <a:cs typeface="Google Sans Medium"/>
              <a:sym typeface="Google Sans Medium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GB" sz="1600" u="none" cap="none" strike="noStrike">
                <a:solidFill>
                  <a:schemeClr val="dk2"/>
                </a:solidFill>
                <a:latin typeface="Google Sans"/>
                <a:ea typeface="Google Sans"/>
                <a:cs typeface="Google Sans"/>
                <a:sym typeface="Google Sans"/>
              </a:rPr>
              <a:t>Imagery → Segmentation → Topological Healing → Graph Analysis → Interactive Dashboard.</a:t>
            </a:r>
            <a:endParaRPr b="0" i="0" sz="1600" u="none" cap="none" strike="noStrike">
              <a:solidFill>
                <a:schemeClr val="dk2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  <p:pic>
        <p:nvPicPr>
          <p:cNvPr id="83" name="Picture 82" descr="Prob4ShortDi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58154" y="1920240"/>
            <a:ext cx="3627692" cy="292608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6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18" title="wswswsw33d3d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18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18"/>
          <p:cNvSpPr txBox="1"/>
          <p:nvPr/>
        </p:nvSpPr>
        <p:spPr>
          <a:xfrm>
            <a:off x="311700" y="863550"/>
            <a:ext cx="7569300" cy="2570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GB" sz="1600" u="none" cap="none" strike="noStrike">
                <a:solidFill>
                  <a:schemeClr val="dk1"/>
                </a:solidFill>
                <a:latin typeface="Google Sans Medium"/>
                <a:ea typeface="Google Sans Medium"/>
                <a:cs typeface="Google Sans Medium"/>
                <a:sym typeface="Google Sans Medium"/>
              </a:rPr>
              <a:t>Wireframe / Mock of the dashboard</a:t>
            </a:r>
            <a:endParaRPr b="0" i="0" sz="1600" u="none" cap="none" strike="noStrike">
              <a:solidFill>
                <a:schemeClr val="dk1"/>
              </a:solidFill>
              <a:latin typeface="Google Sans Medium"/>
              <a:ea typeface="Google Sans Medium"/>
              <a:cs typeface="Google Sans Medium"/>
              <a:sym typeface="Google Sans Medium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GB" sz="1600" u="none" cap="none" strike="noStrike">
                <a:solidFill>
                  <a:schemeClr val="dk1"/>
                </a:solidFill>
                <a:latin typeface="Google Sans Medium"/>
                <a:ea typeface="Google Sans Medium"/>
                <a:cs typeface="Google Sans Medium"/>
                <a:sym typeface="Google Sans Medium"/>
              </a:rPr>
              <a:t>Dark urban map; road network glows blue; key intersections pulse red, scaled by betweenness centrality.</a:t>
            </a:r>
            <a:endParaRPr b="0" i="0" sz="1600" u="none" cap="none" strike="noStrike">
              <a:solidFill>
                <a:schemeClr val="dk1"/>
              </a:solidFill>
              <a:latin typeface="Google Sans Medium"/>
              <a:ea typeface="Google Sans Medium"/>
              <a:cs typeface="Google Sans Medium"/>
              <a:sym typeface="Google Sans Medium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GB" sz="1600" u="none" cap="none" strike="noStrike">
                <a:solidFill>
                  <a:schemeClr val="dk1"/>
                </a:solidFill>
                <a:latin typeface="Google Sans Medium"/>
                <a:ea typeface="Google Sans Medium"/>
                <a:cs typeface="Google Sans Medium"/>
                <a:sym typeface="Google Sans Medium"/>
              </a:rPr>
              <a:t>Side chat panel: user asks 'if the main highway floods, what happens?' — map greys out the closure, highlights detours, shows the Resilience Index drop.</a:t>
            </a:r>
            <a:endParaRPr b="0" i="0" sz="1600" u="none" cap="none" strike="noStrike">
              <a:solidFill>
                <a:schemeClr val="dk1"/>
              </a:solidFill>
              <a:latin typeface="Google Sans Medium"/>
              <a:ea typeface="Google Sans Medium"/>
              <a:cs typeface="Google Sans Medium"/>
              <a:sym typeface="Google Sans Medium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3" name="Google Shape;93;p19" title="wswswsw33d3d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18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94" name="Google Shape;94;p19"/>
          <p:cNvSpPr txBox="1"/>
          <p:nvPr/>
        </p:nvSpPr>
        <p:spPr>
          <a:xfrm>
            <a:off x="311700" y="863550"/>
            <a:ext cx="7569300" cy="2570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GB" sz="1600" u="none" cap="none" strike="noStrike">
                <a:solidFill>
                  <a:schemeClr val="dk1"/>
                </a:solidFill>
                <a:latin typeface="Google Sans Medium"/>
                <a:ea typeface="Google Sans Medium"/>
                <a:cs typeface="Google Sans Medium"/>
                <a:sym typeface="Google Sans Medium"/>
              </a:rPr>
              <a:t>Architecture diagram of the proposed solution</a:t>
            </a:r>
            <a:endParaRPr b="0" i="0" sz="1600" u="none" cap="none" strike="noStrike">
              <a:solidFill>
                <a:schemeClr val="dk1"/>
              </a:solidFill>
              <a:latin typeface="Google Sans Medium"/>
              <a:ea typeface="Google Sans Medium"/>
              <a:cs typeface="Google Sans Medium"/>
              <a:sym typeface="Google Sans Medium"/>
            </a:endParaRPr>
          </a:p>
        </p:txBody>
      </p:sp>
      <p:pic>
        <p:nvPicPr>
          <p:cNvPr id="95" name="Picture 94" descr="Prob4Extensivediagram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45114" y="1463040"/>
            <a:ext cx="853771" cy="338328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9" name="Google Shape;99;p20" title="wswswsw33d3d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18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100" name="Google Shape;100;p20"/>
          <p:cNvSpPr txBox="1"/>
          <p:nvPr/>
        </p:nvSpPr>
        <p:spPr>
          <a:xfrm>
            <a:off x="311700" y="863550"/>
            <a:ext cx="7569300" cy="2570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GB" sz="1600" u="none" cap="none" strike="noStrike">
                <a:solidFill>
                  <a:schemeClr val="dk1"/>
                </a:solidFill>
                <a:latin typeface="Google Sans Medium"/>
                <a:ea typeface="Google Sans Medium"/>
                <a:cs typeface="Google Sans Medium"/>
                <a:sym typeface="Google Sans Medium"/>
              </a:rPr>
              <a:t>Technologies to be used in the solution</a:t>
            </a:r>
            <a:endParaRPr b="0" i="0" sz="1600" u="none" cap="none" strike="noStrike">
              <a:solidFill>
                <a:schemeClr val="dk1"/>
              </a:solidFill>
              <a:latin typeface="Google Sans Medium"/>
              <a:ea typeface="Google Sans Medium"/>
              <a:cs typeface="Google Sans Medium"/>
              <a:sym typeface="Google Sans Medium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t>ML / CV: PyTorch, segmentation-models-pytorch, Albumentations.</a:t>
            </a:r>
            <a:endParaRPr b="0" i="0" sz="1600" u="none" cap="none" strike="noStrike">
              <a:solidFill>
                <a:schemeClr val="dk1"/>
              </a:solidFill>
              <a:latin typeface="Google Sans Medium"/>
              <a:ea typeface="Google Sans Medium"/>
              <a:cs typeface="Google Sans Medium"/>
              <a:sym typeface="Google Sans Medium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t>Geospatial / Graph: Rasterio, GDAL, scikit-image, sknw, NetworkX, OSMnx.</a:t>
            </a:r>
            <a:endParaRPr b="0" i="0" sz="1600" u="none" cap="none" strike="noStrike">
              <a:solidFill>
                <a:schemeClr val="dk1"/>
              </a:solidFill>
              <a:latin typeface="Google Sans Medium"/>
              <a:ea typeface="Google Sans Medium"/>
              <a:cs typeface="Google Sans Medium"/>
              <a:sym typeface="Google Sans Medium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t>App / AI: Streamlit, folium/Leaflet, LangGraph, LangChain, Anthropic Claude.</a:t>
            </a:r>
            <a:endParaRPr b="0" i="0" sz="1600" u="none" cap="none" strike="noStrike">
              <a:solidFill>
                <a:schemeClr val="dk1"/>
              </a:solidFill>
              <a:latin typeface="Google Sans Medium"/>
              <a:ea typeface="Google Sans Medium"/>
              <a:cs typeface="Google Sans Medium"/>
              <a:sym typeface="Google Sans Medium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t>Data: Cartosat-3 (primary) + pan-sharpened LISS-IV; Sentinel-2 / DeepGlobe / SpaceNet (pre-train); OSM ground truth.</a:t>
            </a:r>
            <a:endParaRPr b="0" i="0" sz="1600" u="none" cap="none" strike="noStrike">
              <a:solidFill>
                <a:schemeClr val="dk1"/>
              </a:solidFill>
              <a:latin typeface="Google Sans Medium"/>
              <a:ea typeface="Google Sans Medium"/>
              <a:cs typeface="Google Sans Medium"/>
              <a:sym typeface="Google Sans Medium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5" name="Google Shape;105;p21" title="wswswsw33d3d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18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106" name="Google Shape;106;p21"/>
          <p:cNvSpPr txBox="1"/>
          <p:nvPr/>
        </p:nvSpPr>
        <p:spPr>
          <a:xfrm>
            <a:off x="311700" y="863550"/>
            <a:ext cx="7569300" cy="2570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GB" sz="1600" u="none" cap="none" strike="noStrike">
                <a:solidFill>
                  <a:schemeClr val="dk1"/>
                </a:solidFill>
                <a:latin typeface="Google Sans Medium"/>
                <a:ea typeface="Google Sans Medium"/>
                <a:cs typeface="Google Sans Medium"/>
                <a:sym typeface="Google Sans Medium"/>
              </a:rPr>
              <a:t>Estimated implementation cost (optional)</a:t>
            </a:r>
            <a:endParaRPr b="0" i="0" sz="1600" u="none" cap="none" strike="noStrike">
              <a:solidFill>
                <a:schemeClr val="dk1"/>
              </a:solidFill>
              <a:latin typeface="Google Sans Medium"/>
              <a:ea typeface="Google Sans Medium"/>
              <a:cs typeface="Google Sans Medium"/>
              <a:sym typeface="Google Sans Medium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t>Compute: 1 owned GPU workstation for fine-tuning — ~zero incremental cost.</a:t>
            </a:r>
            <a:endParaRPr b="0" i="0" sz="1600" u="none" cap="none" strike="noStrike">
              <a:solidFill>
                <a:schemeClr val="dk1"/>
              </a:solidFill>
              <a:latin typeface="Google Sans Medium"/>
              <a:ea typeface="Google Sans Medium"/>
              <a:cs typeface="Google Sans Medium"/>
              <a:sym typeface="Google Sans Medium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t>LLM API (Claude) for the assistant: a few dollars for the demo.</a:t>
            </a:r>
            <a:endParaRPr b="0" i="0" sz="1600" u="none" cap="none" strike="noStrike">
              <a:solidFill>
                <a:schemeClr val="dk1"/>
              </a:solidFill>
              <a:latin typeface="Google Sans Medium"/>
              <a:ea typeface="Google Sans Medium"/>
              <a:cs typeface="Google Sans Medium"/>
              <a:sym typeface="Google Sans Medium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t>Data: open datasets + OSM are free; Cartosat-3 provided at the event.</a:t>
            </a:r>
            <a:endParaRPr b="0" i="0" sz="1600" u="none" cap="none" strike="noStrike">
              <a:solidFill>
                <a:schemeClr val="dk1"/>
              </a:solidFill>
              <a:latin typeface="Google Sans Medium"/>
              <a:ea typeface="Google Sans Medium"/>
              <a:cs typeface="Google Sans Medium"/>
              <a:sym typeface="Google Sans Medium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t>Graph analysis + dashboard: CPU-only — no cloud cost.</a:t>
            </a:r>
            <a:endParaRPr b="0" i="0" sz="1600" u="none" cap="none" strike="noStrike">
              <a:solidFill>
                <a:schemeClr val="dk1"/>
              </a:solidFill>
              <a:latin typeface="Google Sans Medium"/>
              <a:ea typeface="Google Sans Medium"/>
              <a:cs typeface="Google Sans Medium"/>
              <a:sym typeface="Google Sans Medium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1" name="Google Shape;111;p22" title="wswswswdwdww33d3d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18" cy="51435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